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Malgun Gothic" panose="020B0503020000020004" pitchFamily="50" charset="-127"/>
      <p:regular r:id="rId8"/>
      <p:bold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5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455EA-F2DF-49E5-A480-1E0148B11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C57C57-7108-48AE-8482-E2EBC28C7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46BDF-8B59-4237-938D-378112080A7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2026-10-06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EA10E-00D0-43D3-85B1-9EE5326DFD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2DD85-2AD9-49C6-964F-0D6984E4D0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D8F5-6E8A-425F-A9FD-02C3B2641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A0D3C-1AE6-4147-B62C-4299C74F6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EC7E4-D6E6-4352-B569-7C32DAB912C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2026-10-06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7F410-EA27-42F9-A091-3CC25BBFDA1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5BA6-390A-4999-86A2-72214F049F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BF531-D04E-41ED-B4C3-7F164FABA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49E7B-20E4-465D-AEE2-2B49A8B9A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66B0D-99DE-475A-BF5B-B913C769962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2026-10-06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E7177-FDE9-46ED-804A-C4E79ECAE5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1420E-EBF7-424B-B763-7A9B8C4AF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534F1-A979-452C-875D-247D3C061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61581-1020-4847-B24B-719B8D5E4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AE2FC-63D4-4757-9D5E-72A2DCBBDBE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04AC3-6EFF-44B5-B9B0-088BBEF7D3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2026-10-06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F17F7-3ACB-4C78-A644-F245FE6545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A8B4F-169D-4E9B-87B0-85DAB97C7B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0D916-9E3D-408F-86FE-B57CD45F4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89484-955F-44B0-BE9B-24FF3A318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07789-59FC-42B2-AE02-3729FB9B8A1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15B9A8-D3BE-41DF-9000-FF4F9415C16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02FA51-41DA-466B-9A51-270B9DC49E2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238F09-B2D3-45D0-851D-E117036FC6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2026-10-06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BAAACC-5609-479E-9B7B-BA4EDD3B4C1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F689E8-388D-4ACE-ABC7-5B8DDAD552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EE046-6A5F-4CB5-8203-CF17E8A2B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68AFC3-1FBB-4126-9C7E-8D0A9A6207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2026-10-06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DD5A0A-4553-4491-89A4-60EC6EFC67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DC399-6799-4E75-A2A8-536E5A739E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C3BD86-6952-432E-AD7D-1D7045BFDF8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2026-10-06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7F7F7D-D263-4E38-805B-5E7CFC083E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0A035-5FB4-435D-BB33-738E60F2EA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41C1F-B167-4509-9A77-F72B962BC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AD8A7-65B3-4C7C-B26E-CB3A1325C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EB366-F88D-49B7-A636-B3F86721E64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31EC2-B6B4-4E6D-93E7-C61226AB93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2026-10-06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36C33-F96F-4AF5-B4CA-EEA897E430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EC634-9929-433F-8A2F-20930EAC1C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F6D10-65E5-4671-8B72-ED8073BAD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23242F-B909-4AB7-B144-745444BDA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41341-DDA0-4846-9E2F-CF137539A5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EB21D-4461-447C-B6A8-858C242B94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2026-10-06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63C18-D3E4-45DA-95C9-4F3B03E423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A7AD8-E5DF-432B-AA68-C1E9A9DDD7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772D-AE63-4E68-B993-A1D9AFCD1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0E54A9-EBED-46F6-AB73-072F37D12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D9B1C-297C-4DFE-8DF6-36322E06C57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2026-10-06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BC02B-8E4D-4BA8-B07E-C01255AAA6B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FB45C-95DA-4E78-B88B-33721DF69A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7EE316-2F27-4A90-9CF0-8A42CA593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2E753B-7881-4926-A0BD-B7EC48C6B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A438F-0068-4FFE-A8F0-7662DA319F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2026-10-06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7849F-079B-41CF-9073-82B7D6A66A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DA3C8-E3F1-4304-B4E0-090E0A47A0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EF4F6A-8DDC-4519-BACA-506FA2AE3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59996-6039-4762-951A-DF33E9DF7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110C4-C525-40AC-BC43-E53240D306D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2026-10-06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21863-D0EE-4433-9AEF-CFE0B49B16B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05B46-1A11-44F1-B165-F34A952F16C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huggingface.co/spaces/psy0635/fashion-image-check" TargetMode="Externa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E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" y="469900"/>
            <a:ext cx="17360900" cy="9359900"/>
          </a:xfrm>
          <a:prstGeom prst="rect">
            <a:avLst/>
          </a:prstGeom>
          <a:effectLst>
            <a:outerShdw blurRad="561213" dist="359752" dir="2700000">
              <a:srgbClr val="3E372E">
                <a:alpha val="43000"/>
              </a:srgbClr>
            </a:outerShdw>
          </a:effectLst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B0FCD3FA-D35D-43A7-8295-9880C04A5168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5049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24695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46952"/>
                </a:solidFill>
                <a:latin typeface="Malgun Gothic"/>
                <a:ea typeface="Malgun Gothic"/>
                <a:cs typeface="Malgun Gothic"/>
              </a:rPr>
              <a:t>인공지능 플랫폼실습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CE85BBC-5BFD-4991-99F6-217E2768F082}"/>
              </a:ext>
            </a:extLst>
          </p:cNvPr>
          <p:cNvSpPr>
            <a:spLocks noGrp="1"/>
          </p:cNvSpPr>
          <p:nvPr/>
        </p:nvSpPr>
        <p:spPr>
          <a:xfrm>
            <a:off x="1333500" y="3286125"/>
            <a:ext cx="1524000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1100" b="1">
                <a:solidFill>
                  <a:srgbClr val="246952"/>
                </a:solidFill>
                <a:latin typeface="Malgun Gothic"/>
                <a:ea typeface="Malgun Gothic"/>
                <a:cs typeface="Malgun Gothic"/>
              </a:defRPr>
            </a:pPr>
            <a:r>
              <a:rPr sz="11100" b="1">
                <a:solidFill>
                  <a:srgbClr val="246952"/>
                </a:solidFill>
                <a:latin typeface="Malgun Gothic"/>
                <a:ea typeface="Malgun Gothic"/>
                <a:cs typeface="Malgun Gothic"/>
              </a:rPr>
              <a:t>웨어체크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090683-5045-4D8F-9E02-D82B0D1DEFA2}"/>
              </a:ext>
            </a:extLst>
          </p:cNvPr>
          <p:cNvSpPr>
            <a:spLocks noGrp="1"/>
          </p:cNvSpPr>
          <p:nvPr/>
        </p:nvSpPr>
        <p:spPr>
          <a:xfrm>
            <a:off x="1428750" y="5524500"/>
            <a:ext cx="15240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750" b="1">
                <a:solidFill>
                  <a:srgbClr val="253E36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253E36"/>
                </a:solidFill>
                <a:latin typeface="Malgun Gothic"/>
                <a:ea typeface="Malgun Gothic"/>
                <a:cs typeface="Malgun Gothic"/>
              </a:rPr>
              <a:t>상품 사진과 등록 카테고리 비교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76E2625-2471-4664-B20C-FB4DE02265BB}"/>
              </a:ext>
            </a:extLst>
          </p:cNvPr>
          <p:cNvSpPr>
            <a:spLocks noGrp="1"/>
          </p:cNvSpPr>
          <p:nvPr/>
        </p:nvSpPr>
        <p:spPr>
          <a:xfrm>
            <a:off x="1428750" y="7858125"/>
            <a:ext cx="13811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775" b="0">
                <a:solidFill>
                  <a:srgbClr val="253E36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253E36"/>
                </a:solidFill>
                <a:latin typeface="Malgun Gothic"/>
                <a:ea typeface="Malgun Gothic"/>
                <a:cs typeface="Malgun Gothic"/>
              </a:rPr>
              <a:t>박수용</a:t>
            </a:r>
          </a:p>
        </p:txBody>
      </p:sp>
    </p:spTree>
    <p:extLst>
      <p:ext uri="{BB962C8B-B14F-4D97-AF65-F5344CB8AC3E}">
        <p14:creationId xmlns:p14="http://schemas.microsoft.com/office/powerpoint/2010/main" val="446855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E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" y="431800"/>
            <a:ext cx="17360900" cy="9359900"/>
          </a:xfrm>
          <a:prstGeom prst="rect">
            <a:avLst/>
          </a:prstGeom>
          <a:effectLst>
            <a:outerShdw blurRad="561213" dist="359752" dir="2700000">
              <a:srgbClr val="3E372E">
                <a:alpha val="43000"/>
              </a:srgbClr>
            </a:outerShdw>
          </a:effectLst>
        </p:spPr>
      </p:pic>
      <p:pic>
        <p:nvPicPr>
          <p:cNvPr id="61" name="그림 5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068785" y="2428875"/>
            <a:ext cx="4865805" cy="6572250"/>
          </a:xfrm>
          <a:prstGeom prst="rect">
            <a:avLst/>
          </a:prstGeom>
        </p:spPr>
      </p:pic>
      <p:sp>
        <p:nvSpPr>
          <p:cNvPr id="56" name="직사각형 55">
            <a:extLst>
              <a:ext uri="{FF2B5EF4-FFF2-40B4-BE49-F238E27FC236}">
                <a16:creationId xmlns:a16="http://schemas.microsoft.com/office/drawing/2014/main" id="{1E5115D4-9A7F-4302-9ED7-EBABD1444D46}"/>
              </a:ext>
            </a:extLst>
          </p:cNvPr>
          <p:cNvSpPr>
            <a:spLocks noGrp="1"/>
          </p:cNvSpPr>
          <p:nvPr/>
        </p:nvSpPr>
        <p:spPr>
          <a:xfrm>
            <a:off x="1285875" y="1238250"/>
            <a:ext cx="157162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875" b="1">
                <a:solidFill>
                  <a:srgbClr val="253E36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253E36"/>
                </a:solidFill>
                <a:latin typeface="Malgun Gothic"/>
                <a:ea typeface="Malgun Gothic"/>
                <a:cs typeface="Malgun Gothic"/>
              </a:rPr>
              <a:t>제작 목적과 사용 방법</a:t>
            </a:r>
          </a:p>
        </p:txBody>
      </p:sp>
      <p:graphicFrame>
        <p:nvGraphicFramePr>
          <p:cNvPr id="63" name="표 60"/>
          <p:cNvGraphicFramePr/>
          <p:nvPr>
            <p:extLst>
              <p:ext uri="{D42A27DB-BD31-4B8C-83A1-F6EECF244321}">
                <p14:modId xmlns:p14="http://schemas.microsoft.com/office/powerpoint/2010/main" val="429859561"/>
              </p:ext>
            </p:extLst>
          </p:nvPr>
        </p:nvGraphicFramePr>
        <p:xfrm>
          <a:off x="1285875" y="2762250"/>
          <a:ext cx="8334375" cy="6048375"/>
        </p:xfrm>
        <a:graphic>
          <a:graphicData uri="http://schemas.openxmlformats.org/drawingml/2006/table">
            <a:tbl>
              <a:tblPr/>
              <a:tblGrid>
                <a:gridCol w="2013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0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27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228600" marR="228600" marT="171450" marB="171450" anchor="ctr">
                    <a:solidFill>
                      <a:srgbClr val="2469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228600" marR="228600" marT="171450" marB="171450" anchor="ctr">
                    <a:solidFill>
                      <a:srgbClr val="2469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2125">
                <a:tc>
                  <a:txBody>
                    <a:bodyPr/>
                    <a:lstStyle/>
                    <a:p>
                      <a:r>
                        <a:rPr sz="2700" b="1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제작</a:t>
                      </a:r>
                      <a:r>
                        <a:rPr sz="2700" b="1" dirty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700" b="1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</a:t>
                      </a:r>
                      <a:endParaRPr sz="2700" b="1" dirty="0">
                        <a:solidFill>
                          <a:srgbClr val="253E3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 b="0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</a:t>
                      </a:r>
                      <a:r>
                        <a:rPr sz="2700" b="0" dirty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700" b="0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사진과</a:t>
                      </a:r>
                      <a:r>
                        <a:rPr sz="2700" b="0" dirty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700" b="0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</a:t>
                      </a:r>
                      <a:r>
                        <a:rPr sz="2700" b="0" dirty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700" b="0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카테고리가</a:t>
                      </a:r>
                      <a:endParaRPr sz="2700" b="0" dirty="0">
                        <a:solidFill>
                          <a:srgbClr val="253E3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r>
                        <a:rPr sz="2700" b="0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</a:t>
                      </a:r>
                      <a:r>
                        <a:rPr sz="2700" b="0" dirty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700" b="0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항목을</a:t>
                      </a:r>
                      <a:r>
                        <a:rPr sz="2700" b="0" dirty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700" b="0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확인합니다</a:t>
                      </a:r>
                      <a:r>
                        <a:rPr sz="2700" b="0" dirty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2125">
                <a:tc>
                  <a:txBody>
                    <a:bodyPr/>
                    <a:lstStyle/>
                    <a:p>
                      <a:r>
                        <a:rPr sz="2700" b="1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  <a:endParaRPr sz="2700" b="1" dirty="0">
                        <a:solidFill>
                          <a:srgbClr val="253E3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사진과 등록 카테고리</a:t>
                      </a:r>
                    </a:p>
                    <a:p>
                      <a:r>
                        <a:rPr sz="2700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상의·하의·신발 중 선택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2125">
                <a:tc>
                  <a:txBody>
                    <a:bodyPr/>
                    <a:lstStyle/>
                    <a:p>
                      <a:r>
                        <a:rPr sz="2700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 b="0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일치·불일치·판단</a:t>
                      </a:r>
                      <a:r>
                        <a:rPr sz="2700" b="0" dirty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700" b="0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보류</a:t>
                      </a:r>
                      <a:endParaRPr sz="2700" b="0" dirty="0">
                        <a:solidFill>
                          <a:srgbClr val="253E3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r>
                        <a:rPr sz="2700" b="0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후보별</a:t>
                      </a:r>
                      <a:r>
                        <a:rPr sz="2700" b="0" dirty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700" b="0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점수와</a:t>
                      </a:r>
                      <a:r>
                        <a:rPr sz="2700" b="0" dirty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700" b="0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판정</a:t>
                      </a:r>
                      <a:r>
                        <a:rPr sz="2700" b="0" dirty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700" b="0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</a:t>
                      </a:r>
                      <a:endParaRPr sz="2700" b="0" dirty="0">
                        <a:solidFill>
                          <a:srgbClr val="253E3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510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E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" y="431800"/>
            <a:ext cx="17360900" cy="9359900"/>
          </a:xfrm>
          <a:prstGeom prst="rect">
            <a:avLst/>
          </a:prstGeom>
          <a:effectLst>
            <a:outerShdw blurRad="561213" dist="359752" dir="2700000">
              <a:srgbClr val="3E372E">
                <a:alpha val="43000"/>
              </a:srgbClr>
            </a:outerShdw>
          </a:effectLst>
        </p:spPr>
      </p:pic>
      <p:pic>
        <p:nvPicPr>
          <p:cNvPr id="76" name="그림 71"/>
          <p:cNvPicPr>
            <a:picLocks noChangeAspect="1"/>
          </p:cNvPicPr>
          <p:nvPr/>
        </p:nvPicPr>
        <p:blipFill>
          <a:blip r:embed="rId5"/>
          <a:srcRect b="40000"/>
          <a:stretch/>
        </p:blipFill>
        <p:spPr>
          <a:xfrm>
            <a:off x="1238250" y="2619375"/>
            <a:ext cx="7524750" cy="5953125"/>
          </a:xfrm>
          <a:prstGeom prst="rect">
            <a:avLst/>
          </a:prstGeom>
        </p:spPr>
      </p:pic>
      <p:sp>
        <p:nvSpPr>
          <p:cNvPr id="66" name="직사각형 65">
            <a:extLst>
              <a:ext uri="{FF2B5EF4-FFF2-40B4-BE49-F238E27FC236}">
                <a16:creationId xmlns:a16="http://schemas.microsoft.com/office/drawing/2014/main" id="{58CD9AF7-FDBC-4DAA-982C-9B9F17AFBBBF}"/>
              </a:ext>
            </a:extLst>
          </p:cNvPr>
          <p:cNvSpPr>
            <a:spLocks noGrp="1"/>
          </p:cNvSpPr>
          <p:nvPr/>
        </p:nvSpPr>
        <p:spPr>
          <a:xfrm>
            <a:off x="1285875" y="1190625"/>
            <a:ext cx="15716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875" b="1">
                <a:solidFill>
                  <a:srgbClr val="253E36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253E36"/>
                </a:solidFill>
                <a:latin typeface="Malgun Gothic"/>
                <a:ea typeface="Malgun Gothic"/>
                <a:cs typeface="Malgun Gothic"/>
              </a:rPr>
              <a:t>분석 결과와 판정 기준</a:t>
            </a:r>
          </a:p>
        </p:txBody>
      </p:sp>
      <p:graphicFrame>
        <p:nvGraphicFramePr>
          <p:cNvPr id="78" name="표 73"/>
          <p:cNvGraphicFramePr/>
          <p:nvPr/>
        </p:nvGraphicFramePr>
        <p:xfrm>
          <a:off x="9239250" y="2714625"/>
          <a:ext cx="7762875" cy="414337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62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228600" marR="228600" marT="171450" marB="171450" anchor="ctr">
                    <a:solidFill>
                      <a:srgbClr val="2469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결과</a:t>
                      </a:r>
                    </a:p>
                  </a:txBody>
                  <a:tcPr marL="228600" marR="228600" marT="171450" marB="171450" anchor="ctr">
                    <a:solidFill>
                      <a:srgbClr val="2469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기준</a:t>
                      </a:r>
                    </a:p>
                  </a:txBody>
                  <a:tcPr marL="228600" marR="228600" marT="171450" marB="171450" anchor="ctr">
                    <a:solidFill>
                      <a:srgbClr val="2469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1위 점수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94.71%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65% 이상</a:t>
                      </a:r>
                    </a:p>
                    <a:p>
                      <a:r>
                        <a:rPr sz="2400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충족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1·2위 차이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90.15%p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15%p </a:t>
                      </a:r>
                      <a:r>
                        <a:rPr sz="2400" b="0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이상</a:t>
                      </a:r>
                      <a:endParaRPr sz="2400" b="0" dirty="0">
                        <a:solidFill>
                          <a:srgbClr val="253E3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r>
                        <a:rPr sz="2400" b="0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충족</a:t>
                      </a:r>
                      <a:endParaRPr sz="2400" b="0" dirty="0">
                        <a:solidFill>
                          <a:srgbClr val="253E3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9" name="표 74"/>
          <p:cNvGraphicFramePr/>
          <p:nvPr>
            <p:extLst>
              <p:ext uri="{D42A27DB-BD31-4B8C-83A1-F6EECF244321}">
                <p14:modId xmlns:p14="http://schemas.microsoft.com/office/powerpoint/2010/main" val="2000471971"/>
              </p:ext>
            </p:extLst>
          </p:nvPr>
        </p:nvGraphicFramePr>
        <p:xfrm>
          <a:off x="9239250" y="7096125"/>
          <a:ext cx="7762876" cy="1440180"/>
        </p:xfrm>
        <a:graphic>
          <a:graphicData uri="http://schemas.openxmlformats.org/drawingml/2006/table">
            <a:tbl>
              <a:tblPr/>
              <a:tblGrid>
                <a:gridCol w="3881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1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카테고리</a:t>
                      </a:r>
                    </a:p>
                  </a:txBody>
                  <a:tcPr marL="228600" marR="228600" marT="171450" marB="171450" anchor="ctr">
                    <a:solidFill>
                      <a:srgbClr val="2469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추천</a:t>
                      </a:r>
                    </a:p>
                  </a:txBody>
                  <a:tcPr marL="228600" marR="228600" marT="171450" marB="171450" anchor="ctr">
                    <a:solidFill>
                      <a:srgbClr val="2469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상의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 dirty="0" err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상의</a:t>
                      </a:r>
                      <a:endParaRPr sz="2475" b="0" dirty="0">
                        <a:solidFill>
                          <a:srgbClr val="253E3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9" name="직사각형 68">
            <a:extLst>
              <a:ext uri="{FF2B5EF4-FFF2-40B4-BE49-F238E27FC236}">
                <a16:creationId xmlns:a16="http://schemas.microsoft.com/office/drawing/2014/main" id="{7FA0F55E-57DA-4934-9548-E924FDCF40B3}"/>
              </a:ext>
            </a:extLst>
          </p:cNvPr>
          <p:cNvSpPr>
            <a:spLocks noGrp="1"/>
          </p:cNvSpPr>
          <p:nvPr/>
        </p:nvSpPr>
        <p:spPr>
          <a:xfrm>
            <a:off x="1333500" y="8715375"/>
            <a:ext cx="15621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253E3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253E36"/>
                </a:solidFill>
                <a:latin typeface="Malgun Gothic"/>
                <a:ea typeface="Malgun Gothic"/>
                <a:cs typeface="Malgun Gothic"/>
              </a:rPr>
              <a:t>두 기준을 충족하면 등록값과 비교하고, 하나라도 미달하면 판단을 보류합니다.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692E083-E433-4AAF-BBB7-9EF801FD38B8}"/>
              </a:ext>
            </a:extLst>
          </p:cNvPr>
          <p:cNvSpPr>
            <a:spLocks noGrp="1"/>
          </p:cNvSpPr>
          <p:nvPr/>
        </p:nvSpPr>
        <p:spPr>
          <a:xfrm>
            <a:off x="1333500" y="9334500"/>
            <a:ext cx="15621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52615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52615A"/>
                </a:solidFill>
                <a:latin typeface="Malgun Gothic"/>
                <a:ea typeface="Malgun Gothic"/>
                <a:cs typeface="Malgun Gothic"/>
              </a:rPr>
              <a:t>점수는</a:t>
            </a:r>
            <a:r>
              <a:rPr sz="1875" b="0" dirty="0">
                <a:solidFill>
                  <a:srgbClr val="52615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52615A"/>
                </a:solidFill>
                <a:latin typeface="Malgun Gothic"/>
                <a:ea typeface="Malgun Gothic"/>
                <a:cs typeface="Malgun Gothic"/>
              </a:rPr>
              <a:t>정확도나</a:t>
            </a:r>
            <a:r>
              <a:rPr sz="1875" b="0" dirty="0">
                <a:solidFill>
                  <a:srgbClr val="52615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52615A"/>
                </a:solidFill>
                <a:latin typeface="Malgun Gothic"/>
                <a:ea typeface="Malgun Gothic"/>
                <a:cs typeface="Malgun Gothic"/>
              </a:rPr>
              <a:t>정답</a:t>
            </a:r>
            <a:r>
              <a:rPr sz="1875" b="0" dirty="0">
                <a:solidFill>
                  <a:srgbClr val="52615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52615A"/>
                </a:solidFill>
                <a:latin typeface="Malgun Gothic"/>
                <a:ea typeface="Malgun Gothic"/>
                <a:cs typeface="Malgun Gothic"/>
              </a:rPr>
              <a:t>확률이</a:t>
            </a:r>
            <a:r>
              <a:rPr sz="1875" b="0" dirty="0">
                <a:solidFill>
                  <a:srgbClr val="52615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52615A"/>
                </a:solidFill>
                <a:latin typeface="Malgun Gothic"/>
                <a:ea typeface="Malgun Gothic"/>
                <a:cs typeface="Malgun Gothic"/>
              </a:rPr>
              <a:t>아닙니다</a:t>
            </a:r>
            <a:r>
              <a:rPr sz="1875" b="0" dirty="0">
                <a:solidFill>
                  <a:srgbClr val="52615A"/>
                </a:solidFill>
                <a:latin typeface="Malgun Gothic"/>
                <a:ea typeface="Malgun Gothic"/>
                <a:cs typeface="Malgun Gothic"/>
              </a:rPr>
              <a:t>. 65%와 15%p는 </a:t>
            </a:r>
            <a:r>
              <a:rPr sz="1875" b="0" dirty="0" err="1">
                <a:solidFill>
                  <a:srgbClr val="52615A"/>
                </a:solidFill>
                <a:latin typeface="Malgun Gothic"/>
                <a:ea typeface="Malgun Gothic"/>
                <a:cs typeface="Malgun Gothic"/>
              </a:rPr>
              <a:t>시연용으로</a:t>
            </a:r>
            <a:r>
              <a:rPr sz="1875" b="0" dirty="0">
                <a:solidFill>
                  <a:srgbClr val="52615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52615A"/>
                </a:solidFill>
                <a:latin typeface="Malgun Gothic"/>
                <a:ea typeface="Malgun Gothic"/>
                <a:cs typeface="Malgun Gothic"/>
              </a:rPr>
              <a:t>정한</a:t>
            </a:r>
            <a:r>
              <a:rPr sz="1875" b="0" dirty="0">
                <a:solidFill>
                  <a:srgbClr val="52615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52615A"/>
                </a:solidFill>
                <a:latin typeface="Malgun Gothic"/>
                <a:ea typeface="Malgun Gothic"/>
                <a:cs typeface="Malgun Gothic"/>
              </a:rPr>
              <a:t>기준입니다</a:t>
            </a:r>
            <a:r>
              <a:rPr sz="1875" b="0" dirty="0">
                <a:solidFill>
                  <a:srgbClr val="52615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1267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E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" y="431800"/>
            <a:ext cx="17360900" cy="9359900"/>
          </a:xfrm>
          <a:prstGeom prst="rect">
            <a:avLst/>
          </a:prstGeom>
          <a:effectLst>
            <a:outerShdw blurRad="561213" dist="359752" dir="2700000">
              <a:srgbClr val="3E372E">
                <a:alpha val="43000"/>
              </a:srgbClr>
            </a:outerShdw>
          </a:effectLst>
        </p:spPr>
      </p:pic>
      <p:sp>
        <p:nvSpPr>
          <p:cNvPr id="62" name="직사각형 61">
            <a:extLst>
              <a:ext uri="{FF2B5EF4-FFF2-40B4-BE49-F238E27FC236}">
                <a16:creationId xmlns:a16="http://schemas.microsoft.com/office/drawing/2014/main" id="{436D93F6-DE9E-4C15-A7B4-60067FAFC042}"/>
              </a:ext>
            </a:extLst>
          </p:cNvPr>
          <p:cNvSpPr>
            <a:spLocks noGrp="1"/>
          </p:cNvSpPr>
          <p:nvPr/>
        </p:nvSpPr>
        <p:spPr>
          <a:xfrm>
            <a:off x="1285875" y="1143000"/>
            <a:ext cx="15716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75" b="1">
                <a:solidFill>
                  <a:srgbClr val="253E36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253E36"/>
                </a:solidFill>
                <a:latin typeface="Malgun Gothic"/>
                <a:ea typeface="Malgun Gothic"/>
                <a:cs typeface="Malgun Gothic"/>
              </a:rPr>
              <a:t>사용 모델과 개발 과정</a:t>
            </a:r>
          </a:p>
        </p:txBody>
      </p:sp>
      <p:graphicFrame>
        <p:nvGraphicFramePr>
          <p:cNvPr id="66" name="표 65"/>
          <p:cNvGraphicFramePr/>
          <p:nvPr/>
        </p:nvGraphicFramePr>
        <p:xfrm>
          <a:off x="1285875" y="2381250"/>
          <a:ext cx="15716250" cy="7054215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228600" marR="228600" marT="171450" marB="171450" anchor="ctr">
                    <a:solidFill>
                      <a:srgbClr val="2469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228600" marR="228600" marT="171450" marB="171450" anchor="ctr">
                    <a:solidFill>
                      <a:srgbClr val="2469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모델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Xenova/clip-vit-base-patch32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이유와</a:t>
                      </a:r>
                    </a:p>
                    <a:p>
                      <a:r>
                        <a:rPr sz="2475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방식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학습 없이 분류 후보를 지정할 수 있어 선택하였습니다.</a:t>
                      </a:r>
                    </a:p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사진과 후보 설명을 비교하고, 브라우저에서 실행합니다.</a:t>
                      </a:r>
                    </a:p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도구: Transformers.js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8250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막힌 점과</a:t>
                      </a:r>
                    </a:p>
                    <a:p>
                      <a:r>
                        <a:rPr sz="2475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해결 방법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결과만 보면 판정 이유를 알기 어려웠습니다.</a:t>
                      </a:r>
                    </a:p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1위 점수와 후보 간 차이, 기준 충족 여부를 추가하였습니다.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0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 3가지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 상의·하의·신발 세 카테고리만 비교합니다.</a:t>
                      </a:r>
                    </a:p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여러 상품이나 복잡한 배경에서는 잘못 분류할 수 있습니다.</a:t>
                      </a:r>
                    </a:p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실제 상품 데이터로 판정 기준을 검증하지 않았습니다.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서비스에</a:t>
                      </a:r>
                    </a:p>
                    <a:p>
                      <a:r>
                        <a:rPr sz="2475" b="1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필요한 것</a:t>
                      </a:r>
                    </a:p>
                  </a:txBody>
                  <a:tcPr marL="228600" marR="228600" marT="171450" marB="171450" anchor="ctr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상품 데이터로 성능과 판정 기준 검증</a:t>
                      </a:r>
                    </a:p>
                    <a:p>
                      <a:r>
                        <a:rPr sz="2475" b="0">
                          <a:solidFill>
                            <a:srgbClr val="253E3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사진 일괄 처리, 검수 이력 저장, 사용자 최종 확인</a:t>
                      </a:r>
                    </a:p>
                  </a:txBody>
                  <a:tcPr marL="228600" marR="228600" marT="171450" marB="1714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523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E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" y="431800"/>
            <a:ext cx="17360900" cy="9359900"/>
          </a:xfrm>
          <a:prstGeom prst="rect">
            <a:avLst/>
          </a:prstGeom>
          <a:effectLst>
            <a:outerShdw blurRad="561213" dist="359752" dir="2700000">
              <a:srgbClr val="3E372E">
                <a:alpha val="43000"/>
              </a:srgbClr>
            </a:outerShdw>
          </a:effectLst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4146A0B-7586-45A5-85D5-CF7347C3365B}"/>
              </a:ext>
            </a:extLst>
          </p:cNvPr>
          <p:cNvSpPr>
            <a:spLocks noGrp="1"/>
          </p:cNvSpPr>
          <p:nvPr/>
        </p:nvSpPr>
        <p:spPr>
          <a:xfrm>
            <a:off x="1333500" y="3619500"/>
            <a:ext cx="15240000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375" b="1">
                <a:solidFill>
                  <a:srgbClr val="246952"/>
                </a:solidFill>
                <a:latin typeface="Malgun Gothic"/>
                <a:ea typeface="Malgun Gothic"/>
                <a:cs typeface="Malgun Gothic"/>
              </a:defRPr>
            </a:pPr>
            <a:r>
              <a:rPr sz="9375" b="1">
                <a:solidFill>
                  <a:srgbClr val="246952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D69A7C7-B28A-4D82-97F8-A98E6F162A3B}"/>
              </a:ext>
            </a:extLst>
          </p:cNvPr>
          <p:cNvSpPr>
            <a:spLocks noGrp="1"/>
          </p:cNvSpPr>
          <p:nvPr/>
        </p:nvSpPr>
        <p:spPr>
          <a:xfrm>
            <a:off x="1428750" y="5905500"/>
            <a:ext cx="142875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0">
                <a:solidFill>
                  <a:srgbClr val="253E3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253E36"/>
                </a:solidFill>
                <a:latin typeface="Malgun Gothic"/>
                <a:ea typeface="Malgun Gothic"/>
                <a:cs typeface="Malgun Gothic"/>
              </a:rPr>
              <a:t>박수용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BFF40F4-1FF6-435D-8FD0-AB820B1237DF}"/>
              </a:ext>
            </a:extLst>
          </p:cNvPr>
          <p:cNvSpPr>
            <a:spLocks noGrp="1"/>
          </p:cNvSpPr>
          <p:nvPr/>
        </p:nvSpPr>
        <p:spPr>
          <a:xfrm>
            <a:off x="1428750" y="8096250"/>
            <a:ext cx="14287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75" b="1">
                <a:solidFill>
                  <a:srgbClr val="24695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46952"/>
                </a:solidFill>
                <a:latin typeface="Malgun Gothic"/>
                <a:ea typeface="Malgun Gothic"/>
                <a:cs typeface="Malgun Gothic"/>
                <a:hlinkClick r:id="rId5"/>
              </a:rPr>
              <a:t>데모 실행하기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EC6BA8F-0755-49BC-B285-8C93B38BD990}"/>
              </a:ext>
            </a:extLst>
          </p:cNvPr>
          <p:cNvSpPr>
            <a:spLocks noGrp="1"/>
          </p:cNvSpPr>
          <p:nvPr/>
        </p:nvSpPr>
        <p:spPr>
          <a:xfrm>
            <a:off x="1428750" y="8858250"/>
            <a:ext cx="15430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2469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46952"/>
                </a:solidFill>
                <a:latin typeface="Malgun Gothic"/>
                <a:ea typeface="Malgun Gothic"/>
                <a:cs typeface="Malgun Gothic"/>
                <a:hlinkClick r:id="rId5"/>
              </a:rPr>
              <a:t>https://huggingface.co/spaces/psy0635/fashion-image-check</a:t>
            </a:r>
          </a:p>
        </p:txBody>
      </p:sp>
    </p:spTree>
    <p:extLst>
      <p:ext uri="{BB962C8B-B14F-4D97-AF65-F5344CB8AC3E}">
        <p14:creationId xmlns:p14="http://schemas.microsoft.com/office/powerpoint/2010/main" val="223633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245</Words>
  <Application>Microsoft Office PowerPoint</Application>
  <DocSecurity>0</DocSecurity>
  <PresentationFormat>사용자 지정</PresentationFormat>
  <Paragraphs>60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Arial</vt:lpstr>
      <vt:lpstr>Malgun Gothic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수용 박</cp:lastModifiedBy>
  <cp:revision>2</cp:revision>
  <dcterms:created xsi:type="dcterms:W3CDTF">2026-09-30T06:22:52Z</dcterms:created>
  <dcterms:modified xsi:type="dcterms:W3CDTF">2026-10-06T01:28:39Z</dcterms:modified>
</cp:coreProperties>
</file>